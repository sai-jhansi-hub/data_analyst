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Noto Sans Symbols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rgiZRjr8NVjB7UfE3Gy9i+RHE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7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otoSansSymbols-regular.fntdata"/><Relationship Id="rId25" Type="http://schemas.openxmlformats.org/officeDocument/2006/relationships/font" Target="fonts/Montserrat-boldItalic.fntdata"/><Relationship Id="rId28" Type="http://customschemas.google.com/relationships/presentationmetadata" Target="metadata"/><Relationship Id="rId27" Type="http://schemas.openxmlformats.org/officeDocument/2006/relationships/font" Target="fonts/NotoSansSymbol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9c614b64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e9c614b64f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9c614b64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9c614b64f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9c614b64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9c614b64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9c614b64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e9c614b64f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18.png"/><Relationship Id="rId6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6"/>
          <p:cNvSpPr txBox="1"/>
          <p:nvPr>
            <p:ph type="title"/>
          </p:nvPr>
        </p:nvSpPr>
        <p:spPr>
          <a:xfrm>
            <a:off x="715320" y="1195560"/>
            <a:ext cx="7713360" cy="14983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" name="Google Shape;9;p16"/>
          <p:cNvGrpSpPr/>
          <p:nvPr/>
        </p:nvGrpSpPr>
        <p:grpSpPr>
          <a:xfrm>
            <a:off x="-424800" y="-1078072"/>
            <a:ext cx="10569460" cy="6822771"/>
            <a:chOff x="-424800" y="-1078072"/>
            <a:chExt cx="10569460" cy="6822771"/>
          </a:xfrm>
        </p:grpSpPr>
        <p:pic>
          <p:nvPicPr>
            <p:cNvPr id="10" name="Google Shape;10;p16"/>
            <p:cNvPicPr preferRelativeResize="0"/>
            <p:nvPr/>
          </p:nvPicPr>
          <p:blipFill rotWithShape="1">
            <a:blip r:embed="rId3">
              <a:alphaModFix/>
            </a:blip>
            <a:srcRect b="25474" l="0" r="0" t="8682"/>
            <a:stretch/>
          </p:blipFill>
          <p:spPr>
            <a:xfrm>
              <a:off x="-276120" y="2993040"/>
              <a:ext cx="9419760" cy="2201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16"/>
            <p:cNvPicPr preferRelativeResize="0"/>
            <p:nvPr/>
          </p:nvPicPr>
          <p:blipFill rotWithShape="1">
            <a:blip r:embed="rId4">
              <a:alphaModFix amt="37000"/>
            </a:blip>
            <a:srcRect b="43561" l="22932" r="0" t="0"/>
            <a:stretch/>
          </p:blipFill>
          <p:spPr>
            <a:xfrm rot="397800">
              <a:off x="-340920" y="3833640"/>
              <a:ext cx="4060440" cy="1682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16"/>
            <p:cNvPicPr preferRelativeResize="0"/>
            <p:nvPr/>
          </p:nvPicPr>
          <p:blipFill rotWithShape="1">
            <a:blip r:embed="rId5">
              <a:alphaModFix amt="31000"/>
            </a:blip>
            <a:srcRect b="0" l="27627" r="0" t="37156"/>
            <a:stretch/>
          </p:blipFill>
          <p:spPr>
            <a:xfrm>
              <a:off x="-424800" y="-609120"/>
              <a:ext cx="3687120" cy="1384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16"/>
            <p:cNvPicPr preferRelativeResize="0"/>
            <p:nvPr/>
          </p:nvPicPr>
          <p:blipFill rotWithShape="1">
            <a:blip r:embed="rId6">
              <a:alphaModFix amt="31000"/>
            </a:blip>
            <a:srcRect b="0" l="12047" r="30099" t="40696"/>
            <a:stretch/>
          </p:blipFill>
          <p:spPr>
            <a:xfrm rot="1168800">
              <a:off x="6186600" y="-463680"/>
              <a:ext cx="3879720" cy="1135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" name="Google Shape;14;p16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_1" type="blank">
  <p:cSld name="BLANK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7"/>
          <p:cNvSpPr txBox="1"/>
          <p:nvPr>
            <p:ph idx="1" type="body"/>
          </p:nvPr>
        </p:nvSpPr>
        <p:spPr>
          <a:xfrm>
            <a:off x="917280" y="1658880"/>
            <a:ext cx="44622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type="title"/>
          </p:nvPr>
        </p:nvSpPr>
        <p:spPr>
          <a:xfrm>
            <a:off x="917280" y="534960"/>
            <a:ext cx="332136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9" name="Google Shape;19;p17"/>
          <p:cNvGrpSpPr/>
          <p:nvPr/>
        </p:nvGrpSpPr>
        <p:grpSpPr>
          <a:xfrm>
            <a:off x="-1303275" y="-1942998"/>
            <a:ext cx="12059399" cy="8490774"/>
            <a:chOff x="-1303275" y="-1942998"/>
            <a:chExt cx="12059399" cy="8490774"/>
          </a:xfrm>
        </p:grpSpPr>
        <p:pic>
          <p:nvPicPr>
            <p:cNvPr id="20" name="Google Shape;20;p17"/>
            <p:cNvPicPr preferRelativeResize="0"/>
            <p:nvPr/>
          </p:nvPicPr>
          <p:blipFill rotWithShape="1">
            <a:blip r:embed="rId3">
              <a:alphaModFix amt="44000"/>
            </a:blip>
            <a:srcRect b="43561" l="22932" r="0" t="0"/>
            <a:stretch/>
          </p:blipFill>
          <p:spPr>
            <a:xfrm rot="-1444200">
              <a:off x="4570920" y="2981160"/>
              <a:ext cx="5941440" cy="2462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17"/>
            <p:cNvPicPr preferRelativeResize="0"/>
            <p:nvPr/>
          </p:nvPicPr>
          <p:blipFill rotWithShape="1">
            <a:blip r:embed="rId4">
              <a:alphaModFix amt="31000"/>
            </a:blip>
            <a:srcRect b="0" l="0" r="0" t="0"/>
            <a:stretch/>
          </p:blipFill>
          <p:spPr>
            <a:xfrm rot="-671400">
              <a:off x="-1181160" y="-1310400"/>
              <a:ext cx="6707160" cy="19155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" name="Google Shape;22;p17"/>
          <p:cNvPicPr preferRelativeResize="0"/>
          <p:nvPr/>
        </p:nvPicPr>
        <p:blipFill rotWithShape="1">
          <a:blip r:embed="rId5">
            <a:alphaModFix/>
          </a:blip>
          <a:srcRect b="0" l="0" r="36313" t="0"/>
          <a:stretch/>
        </p:blipFill>
        <p:spPr>
          <a:xfrm rot="4432200">
            <a:off x="4563360" y="824400"/>
            <a:ext cx="5998680" cy="3343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">
  <p:cSld name="BLANK_1_1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8"/>
          <p:cNvSpPr txBox="1"/>
          <p:nvPr>
            <p:ph type="title"/>
          </p:nvPr>
        </p:nvSpPr>
        <p:spPr>
          <a:xfrm>
            <a:off x="720000" y="53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6" name="Google Shape;26;p18"/>
          <p:cNvGrpSpPr/>
          <p:nvPr/>
        </p:nvGrpSpPr>
        <p:grpSpPr>
          <a:xfrm>
            <a:off x="-1764556" y="-2188733"/>
            <a:ext cx="12540200" cy="4805505"/>
            <a:chOff x="-1764556" y="-2188733"/>
            <a:chExt cx="12540200" cy="4805505"/>
          </a:xfrm>
        </p:grpSpPr>
        <p:pic>
          <p:nvPicPr>
            <p:cNvPr id="27" name="Google Shape;27;p18"/>
            <p:cNvPicPr preferRelativeResize="0"/>
            <p:nvPr/>
          </p:nvPicPr>
          <p:blipFill rotWithShape="1">
            <a:blip r:embed="rId3">
              <a:alphaModFix amt="78000"/>
            </a:blip>
            <a:srcRect b="43561" l="22932" r="0" t="0"/>
            <a:stretch/>
          </p:blipFill>
          <p:spPr>
            <a:xfrm flipH="1" rot="-9249600">
              <a:off x="4594680" y="-1017000"/>
              <a:ext cx="5941440" cy="2462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18"/>
            <p:cNvPicPr preferRelativeResize="0"/>
            <p:nvPr/>
          </p:nvPicPr>
          <p:blipFill rotWithShape="1">
            <a:blip r:embed="rId4">
              <a:alphaModFix amt="31000"/>
            </a:blip>
            <a:srcRect b="0" l="0" r="0" t="0"/>
            <a:stretch/>
          </p:blipFill>
          <p:spPr>
            <a:xfrm rot="-454800">
              <a:off x="-1667520" y="-1319400"/>
              <a:ext cx="6707160" cy="19155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_1_1">
  <p:cSld name="ONE_COLUMN_TEXT_1_1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19"/>
          <p:cNvGrpSpPr/>
          <p:nvPr/>
        </p:nvGrpSpPr>
        <p:grpSpPr>
          <a:xfrm>
            <a:off x="-630052" y="-1157400"/>
            <a:ext cx="10897972" cy="7275580"/>
            <a:chOff x="-630052" y="-1157400"/>
            <a:chExt cx="10897972" cy="7275580"/>
          </a:xfrm>
        </p:grpSpPr>
        <p:pic>
          <p:nvPicPr>
            <p:cNvPr id="33" name="Google Shape;33;p19"/>
            <p:cNvPicPr preferRelativeResize="0"/>
            <p:nvPr/>
          </p:nvPicPr>
          <p:blipFill rotWithShape="1">
            <a:blip r:embed="rId3">
              <a:alphaModFix/>
            </a:blip>
            <a:srcRect b="43561" l="22932" r="0" t="0"/>
            <a:stretch/>
          </p:blipFill>
          <p:spPr>
            <a:xfrm flipH="1" rot="1806000">
              <a:off x="-453240" y="3029040"/>
              <a:ext cx="4848480" cy="200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34;p19"/>
            <p:cNvPicPr preferRelativeResize="0"/>
            <p:nvPr/>
          </p:nvPicPr>
          <p:blipFill rotWithShape="1">
            <a:blip r:embed="rId4">
              <a:alphaModFix amt="31000"/>
            </a:blip>
            <a:srcRect b="0" l="0" r="0" t="0"/>
            <a:stretch/>
          </p:blipFill>
          <p:spPr>
            <a:xfrm flipH="1">
              <a:off x="5172840" y="-1157400"/>
              <a:ext cx="5095080" cy="22039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917280" y="1658880"/>
            <a:ext cx="44622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19"/>
          <p:cNvSpPr txBox="1"/>
          <p:nvPr>
            <p:ph type="title"/>
          </p:nvPr>
        </p:nvSpPr>
        <p:spPr>
          <a:xfrm>
            <a:off x="917280" y="534960"/>
            <a:ext cx="44622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5616720" y="534960"/>
            <a:ext cx="306108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2">
  <p:cSld name="BLANK_1_1_1_1_1_1_2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0"/>
          <p:cNvSpPr txBox="1"/>
          <p:nvPr>
            <p:ph type="title"/>
          </p:nvPr>
        </p:nvSpPr>
        <p:spPr>
          <a:xfrm>
            <a:off x="842400" y="534960"/>
            <a:ext cx="5265000" cy="1055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41" name="Google Shape;41;p20"/>
          <p:cNvGrpSpPr/>
          <p:nvPr/>
        </p:nvGrpSpPr>
        <p:grpSpPr>
          <a:xfrm>
            <a:off x="-798273" y="-1628179"/>
            <a:ext cx="12666202" cy="8308480"/>
            <a:chOff x="-798273" y="-1628179"/>
            <a:chExt cx="12666202" cy="8308480"/>
          </a:xfrm>
        </p:grpSpPr>
        <p:pic>
          <p:nvPicPr>
            <p:cNvPr id="42" name="Google Shape;42;p20"/>
            <p:cNvPicPr preferRelativeResize="0"/>
            <p:nvPr/>
          </p:nvPicPr>
          <p:blipFill rotWithShape="1">
            <a:blip r:embed="rId3">
              <a:alphaModFix amt="93000"/>
            </a:blip>
            <a:srcRect b="0" l="0" r="0" t="0"/>
            <a:stretch/>
          </p:blipFill>
          <p:spPr>
            <a:xfrm flipH="1" rot="-9271200">
              <a:off x="5074920" y="-278640"/>
              <a:ext cx="6707160" cy="1915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20"/>
            <p:cNvPicPr preferRelativeResize="0"/>
            <p:nvPr/>
          </p:nvPicPr>
          <p:blipFill rotWithShape="1">
            <a:blip r:embed="rId4">
              <a:alphaModFix amt="71000"/>
            </a:blip>
            <a:srcRect b="43561" l="22932" r="0" t="0"/>
            <a:stretch/>
          </p:blipFill>
          <p:spPr>
            <a:xfrm flipH="1" rot="1872600">
              <a:off x="-592200" y="2890440"/>
              <a:ext cx="5889960" cy="24404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" name="Google Shape;44;p20"/>
          <p:cNvSpPr/>
          <p:nvPr/>
        </p:nvSpPr>
        <p:spPr>
          <a:xfrm>
            <a:off x="4653000" y="1832040"/>
            <a:ext cx="3648600" cy="6152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b="1" lang="en-US" sz="1000" u="sng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Slidesgo</a:t>
            </a:r>
            <a:r>
              <a:rPr b="0" lang="en-US" sz="1000" u="sng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b="0" lang="en-US" sz="10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including icons, infographics &amp; images by </a:t>
            </a:r>
            <a:r>
              <a:rPr b="1" lang="en-US" sz="1000" u="sng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0" sz="10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rive.google.com/drive/folders/1MjK6Pf-FLH56VhkbvAjMRZAARKmGJMdz?usp=drive_link" TargetMode="External"/><Relationship Id="rId4" Type="http://schemas.openxmlformats.org/officeDocument/2006/relationships/hyperlink" Target="https://www.linkedin.com/in/sai-jhansi-kongara-831a871a4/?lipi=urn%3Ali%3Apage%3Ad_flagship3_profile_view_base_contact_details%3BlNmOd3KFQoqlNbvDPFobqw%3D%3D" TargetMode="External"/><Relationship Id="rId5" Type="http://schemas.openxmlformats.org/officeDocument/2006/relationships/hyperlink" Target="https://www.linkedin.com/in/sai-jhansi-kongara-831a871a4/?lipi=urn%3Ali%3Apage%3Ad_flagship3_profile_view_base_contact_details%3BlNmOd3KFQoqlNbvDPFobqw%3D%3D" TargetMode="External"/><Relationship Id="rId6" Type="http://schemas.openxmlformats.org/officeDocument/2006/relationships/image" Target="../media/image23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 txBox="1"/>
          <p:nvPr>
            <p:ph type="title"/>
          </p:nvPr>
        </p:nvSpPr>
        <p:spPr>
          <a:xfrm>
            <a:off x="448925" y="1098425"/>
            <a:ext cx="8309700" cy="22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Verdana"/>
              <a:buNone/>
            </a:pPr>
            <a:r>
              <a:rPr b="1" lang="en-US" sz="4000" u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 Study 4: GlowUp</a:t>
            </a:r>
            <a:r>
              <a:rPr b="1" lang="en-US" sz="4000">
                <a:latin typeface="Verdana"/>
                <a:ea typeface="Verdana"/>
                <a:cs typeface="Verdana"/>
                <a:sym typeface="Verdana"/>
              </a:rPr>
              <a:t>’s</a:t>
            </a:r>
            <a:r>
              <a:rPr b="1" lang="en-US" sz="4000" u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Marketing Campaign ROI</a:t>
            </a:r>
            <a:r>
              <a:rPr b="1" lang="en-US" sz="400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lang="en-US" sz="4000" u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Analysis</a:t>
            </a:r>
            <a:r>
              <a:rPr b="1" lang="en-US" sz="400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lang="en-US" sz="4000">
                <a:solidFill>
                  <a:schemeClr val="accent6"/>
                </a:solidFill>
                <a:latin typeface="Verdana"/>
                <a:ea typeface="Verdana"/>
                <a:cs typeface="Verdana"/>
                <a:sym typeface="Verdana"/>
              </a:rPr>
              <a:t>FY 2025</a:t>
            </a:r>
            <a:endParaRPr b="0" sz="4000" u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0" name="Google Shape;50;p1"/>
          <p:cNvCxnSpPr/>
          <p:nvPr/>
        </p:nvCxnSpPr>
        <p:spPr>
          <a:xfrm>
            <a:off x="1143000" y="3416968"/>
            <a:ext cx="6761747" cy="0"/>
          </a:xfrm>
          <a:prstGeom prst="straightConnector1">
            <a:avLst/>
          </a:prstGeom>
          <a:noFill/>
          <a:ln cap="flat" cmpd="sng" w="9525">
            <a:solidFill>
              <a:srgbClr val="4DE6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1"/>
          <p:cNvSpPr/>
          <p:nvPr/>
        </p:nvSpPr>
        <p:spPr>
          <a:xfrm flipH="1">
            <a:off x="5778699" y="3677350"/>
            <a:ext cx="3172800" cy="82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Sai Jhansi Kongara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Student at Sharpener Tech</a:t>
            </a:r>
            <a:endParaRPr b="0" i="0" sz="1600" u="none" cap="none" strike="noStrike">
              <a:solidFill>
                <a:srgbClr val="FFFFFF"/>
              </a:solidFill>
              <a:highlight>
                <a:schemeClr val="dk2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/>
          <p:nvPr>
            <p:ph type="title"/>
          </p:nvPr>
        </p:nvSpPr>
        <p:spPr>
          <a:xfrm>
            <a:off x="505326" y="533520"/>
            <a:ext cx="3732954" cy="6696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AIM</a:t>
            </a:r>
            <a:endParaRPr b="0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319975" y="3619175"/>
            <a:ext cx="2550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Tools Used: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Microsoft 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Power BI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Spreadsheet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ChatGPT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219675" y="1141401"/>
            <a:ext cx="8731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Analyze GlowUp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’s</a:t>
            </a:r>
            <a:r>
              <a:rPr i="0" lang="en-US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Marketing Campaign ROI Analysis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a beauty and skincare startup that recently ran multiple </a:t>
            </a: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online and offline marketing campaigns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t</a:t>
            </a:r>
            <a:r>
              <a:rPr i="0" lang="en-US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 provide necessary business recommendations to identify which campaigns and channels generate the highest 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ROI</a:t>
            </a:r>
            <a:endParaRPr i="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19975" y="2103900"/>
            <a:ext cx="8495400" cy="16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usiness</a:t>
            </a: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Objectives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Identify the </a:t>
            </a: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most effective campaigns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in terms of conversions and revenue.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Calculate </a:t>
            </a: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ROI for each campaign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Recommend </a:t>
            </a: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budget allocation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for future campaigns to maximize impact.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 txBox="1"/>
          <p:nvPr>
            <p:ph type="title"/>
          </p:nvPr>
        </p:nvSpPr>
        <p:spPr>
          <a:xfrm>
            <a:off x="565484" y="1419727"/>
            <a:ext cx="4599227" cy="16723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Business Analysis</a:t>
            </a:r>
            <a:br>
              <a:rPr b="1" i="0" lang="en-US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0" i="0" sz="4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" name="Google Shape;65;p4" title="person-working-office.jpg"/>
          <p:cNvSpPr/>
          <p:nvPr/>
        </p:nvSpPr>
        <p:spPr>
          <a:xfrm>
            <a:off x="5616720" y="534960"/>
            <a:ext cx="3061080" cy="4050000"/>
          </a:xfrm>
          <a:prstGeom prst="roundRect">
            <a:avLst>
              <a:gd fmla="val 16667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619199" y="619200"/>
            <a:ext cx="5769569" cy="80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Dataset &amp; Preparation</a:t>
            </a:r>
            <a:endParaRPr b="1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197600" y="3152600"/>
            <a:ext cx="63117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Chatgpt driven Dataset.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Replacing null Values are with “0”.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Blank Text entries with “Unknown".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</a:pP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Conversion Rate =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Conversions / Leads * 100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CPA =Spend/Conversions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CPA </a:t>
            </a:r>
            <a:r>
              <a:rPr lang="en-US">
                <a:solidFill>
                  <a:schemeClr val="dk1"/>
                </a:solidFill>
                <a:highlight>
                  <a:srgbClr val="22242A"/>
                </a:highlight>
                <a:latin typeface="Verdana"/>
                <a:ea typeface="Verdana"/>
                <a:cs typeface="Verdana"/>
                <a:sym typeface="Verdana"/>
              </a:rPr>
              <a:t>↓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=More Efficient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388768" y="3598428"/>
            <a:ext cx="2526632" cy="1057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6"/>
                </a:solidFill>
                <a:latin typeface="Verdana"/>
                <a:ea typeface="Verdana"/>
                <a:cs typeface="Verdana"/>
                <a:sym typeface="Verdana"/>
              </a:rPr>
              <a:t>4000</a:t>
            </a:r>
            <a:r>
              <a:rPr b="0" i="0" lang="en-US" sz="1200" u="none" cap="none" strike="noStrike">
                <a:solidFill>
                  <a:schemeClr val="accent6"/>
                </a:solidFill>
                <a:latin typeface="Verdana"/>
                <a:ea typeface="Verdana"/>
                <a:cs typeface="Verdana"/>
                <a:sym typeface="Verdana"/>
              </a:rPr>
              <a:t> GlowUp Marketing Campaign ROI Analysis Data Entries </a:t>
            </a:r>
            <a:r>
              <a:rPr b="1" i="0" lang="en-US" sz="1200" u="none" cap="none" strike="noStrike">
                <a:solidFill>
                  <a:schemeClr val="accent6"/>
                </a:solidFill>
                <a:latin typeface="Verdana"/>
                <a:ea typeface="Verdana"/>
                <a:cs typeface="Verdana"/>
                <a:sym typeface="Verdana"/>
              </a:rPr>
              <a:t>FY 2025</a:t>
            </a:r>
            <a:endParaRPr b="0" i="0" sz="1200" u="none" cap="none" strike="noStrike">
              <a:solidFill>
                <a:schemeClr val="accent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3" name="Google Shape;73;p3"/>
          <p:cNvPicPr preferRelativeResize="0"/>
          <p:nvPr/>
        </p:nvPicPr>
        <p:blipFill rotWithShape="1">
          <a:blip r:embed="rId3">
            <a:alphaModFix/>
          </a:blip>
          <a:srcRect b="-10392" l="0" r="27763" t="0"/>
          <a:stretch/>
        </p:blipFill>
        <p:spPr>
          <a:xfrm>
            <a:off x="0" y="1319026"/>
            <a:ext cx="9144000" cy="805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525" y="2233625"/>
            <a:ext cx="7466225" cy="91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DAX Measures</a:t>
            </a:r>
            <a:endParaRPr b="0" sz="2400" u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0" name="Google Shape;80;p6"/>
          <p:cNvPicPr preferRelativeResize="0"/>
          <p:nvPr/>
        </p:nvPicPr>
        <p:blipFill rotWithShape="1">
          <a:blip r:embed="rId3">
            <a:alphaModFix/>
          </a:blip>
          <a:srcRect b="0" l="0" r="0" t="47052"/>
          <a:stretch/>
        </p:blipFill>
        <p:spPr>
          <a:xfrm flipH="1" rot="10800000">
            <a:off x="-138250" y="4318220"/>
            <a:ext cx="9419776" cy="88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300" y="1218650"/>
            <a:ext cx="8576850" cy="1844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 txBox="1"/>
          <p:nvPr/>
        </p:nvSpPr>
        <p:spPr>
          <a:xfrm>
            <a:off x="546325" y="3551050"/>
            <a:ext cx="767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It measures how much profit is earned from the (spend) i.e, money invested in a campaign, project, or business activity.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>
            <p:ph type="title"/>
          </p:nvPr>
        </p:nvSpPr>
        <p:spPr>
          <a:xfrm>
            <a:off x="459124" y="430075"/>
            <a:ext cx="44979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KPI Summary</a:t>
            </a:r>
            <a:endParaRPr b="0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8" name="Google Shape;8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25" y="1360125"/>
            <a:ext cx="1124499" cy="7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6964" y="1343575"/>
            <a:ext cx="1124523" cy="76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80575" y="1324212"/>
            <a:ext cx="1124500" cy="76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04175" y="1321400"/>
            <a:ext cx="1124499" cy="7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27776" y="1321400"/>
            <a:ext cx="1073700" cy="7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 txBox="1"/>
          <p:nvPr/>
        </p:nvSpPr>
        <p:spPr>
          <a:xfrm>
            <a:off x="703225" y="2400300"/>
            <a:ext cx="7636500" cy="17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every 100$ spend we generated 300$, so 200$ is the profit.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 ROI of 200% means that for every $100 invested in marketing, the company generated $300 in revenue and earned $200 as profit.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Total Conversion Rate: This KPI measures the percentage of leads converted into customers.</a:t>
            </a:r>
            <a:r>
              <a:rPr i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i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CPA — Cost Per Acquisition: CPA measures how much money is spent towards each conversation.</a:t>
            </a:r>
            <a:endParaRPr i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/>
          <p:nvPr/>
        </p:nvSpPr>
        <p:spPr>
          <a:xfrm>
            <a:off x="186425" y="1901024"/>
            <a:ext cx="43857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Business Insights </a:t>
            </a: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b="1"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Recommendations </a:t>
            </a:r>
            <a:endParaRPr b="1"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terms of Quick wins and long-term strategies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descr="image6a0b4fe132355" id="99" name="Google Shape;99;p7"/>
          <p:cNvSpPr/>
          <p:nvPr/>
        </p:nvSpPr>
        <p:spPr>
          <a:xfrm>
            <a:off x="4933308" y="389386"/>
            <a:ext cx="4114500" cy="4629000"/>
          </a:xfrm>
          <a:prstGeom prst="roundRect">
            <a:avLst>
              <a:gd fmla="val 16667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/>
          <p:nvPr/>
        </p:nvSpPr>
        <p:spPr>
          <a:xfrm>
            <a:off x="378150" y="377773"/>
            <a:ext cx="42780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2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Revenue Trends</a:t>
            </a:r>
            <a:endParaRPr b="0" sz="2220" u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5" name="Google Shape;105;p8"/>
          <p:cNvSpPr txBox="1"/>
          <p:nvPr/>
        </p:nvSpPr>
        <p:spPr>
          <a:xfrm>
            <a:off x="378150" y="2044125"/>
            <a:ext cx="3221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 Campaigns and 4 Channels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High ROI: The Glow Blueprint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Highest Revenue generated: Radiance Revival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best campaign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6" name="Google Shape;106;p8"/>
          <p:cNvPicPr preferRelativeResize="0"/>
          <p:nvPr/>
        </p:nvPicPr>
        <p:blipFill rotWithShape="1">
          <a:blip r:embed="rId3">
            <a:alphaModFix/>
          </a:blip>
          <a:srcRect b="0" l="0" r="0" t="1313"/>
          <a:stretch/>
        </p:blipFill>
        <p:spPr>
          <a:xfrm>
            <a:off x="3674775" y="959425"/>
            <a:ext cx="5029150" cy="347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9c614b64f_0_2"/>
          <p:cNvSpPr/>
          <p:nvPr/>
        </p:nvSpPr>
        <p:spPr>
          <a:xfrm>
            <a:off x="563750" y="377775"/>
            <a:ext cx="40926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2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Revenue Trends</a:t>
            </a:r>
            <a:endParaRPr sz="222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2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2" name="Google Shape;112;g3e9c614b64f_0_2"/>
          <p:cNvSpPr txBox="1"/>
          <p:nvPr/>
        </p:nvSpPr>
        <p:spPr>
          <a:xfrm>
            <a:off x="151625" y="1428050"/>
            <a:ext cx="3862200" cy="30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Quick wins</a:t>
            </a:r>
            <a:r>
              <a:rPr b="1"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(0–3 Months)</a:t>
            </a: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: </a:t>
            </a: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Recommendations</a:t>
            </a: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to actions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●"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Increase budget allocation toward high-ROI campaigns with strong revenue performance.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●"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Reuse successful campaign strategies and creatives to maximize short-term profitability.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Long-Term Strategies (3–12 Months)</a:t>
            </a:r>
            <a:endParaRPr b="1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●"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Build long-term partnerships with high-performing influencers. 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3" name="Google Shape;113;g3e9c614b64f_0_2"/>
          <p:cNvPicPr preferRelativeResize="0"/>
          <p:nvPr/>
        </p:nvPicPr>
        <p:blipFill rotWithShape="1">
          <a:blip r:embed="rId3">
            <a:alphaModFix/>
          </a:blip>
          <a:srcRect b="0" l="0" r="0" t="1215"/>
          <a:stretch/>
        </p:blipFill>
        <p:spPr>
          <a:xfrm>
            <a:off x="4013825" y="1005600"/>
            <a:ext cx="4742374" cy="34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/>
          <p:nvPr/>
        </p:nvSpPr>
        <p:spPr>
          <a:xfrm>
            <a:off x="591050" y="493200"/>
            <a:ext cx="8015700" cy="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Audience Engagement Across Marketing Channels </a:t>
            </a:r>
            <a:r>
              <a:rPr b="1" lang="en-US" sz="2400">
                <a:solidFill>
                  <a:schemeClr val="dk1"/>
                </a:solidFill>
              </a:rPr>
              <a:t>and Audience Type.</a:t>
            </a:r>
            <a:endParaRPr b="1" sz="2400" u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9" name="Google Shape;119;p9"/>
          <p:cNvSpPr txBox="1"/>
          <p:nvPr/>
        </p:nvSpPr>
        <p:spPr>
          <a:xfrm>
            <a:off x="459150" y="1885450"/>
            <a:ext cx="3590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A tree map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Categories: Channel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details: Audience Type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values: Social media likes shares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Social Media has less response Comparatively.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0" name="Google Shape;120;p9"/>
          <p:cNvPicPr preferRelativeResize="0"/>
          <p:nvPr/>
        </p:nvPicPr>
        <p:blipFill rotWithShape="1">
          <a:blip r:embed="rId3">
            <a:alphaModFix/>
          </a:blip>
          <a:srcRect b="0" l="0" r="0" t="606"/>
          <a:stretch/>
        </p:blipFill>
        <p:spPr>
          <a:xfrm>
            <a:off x="4049250" y="1474350"/>
            <a:ext cx="4557499" cy="294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9c614b64f_0_7"/>
          <p:cNvSpPr/>
          <p:nvPr/>
        </p:nvSpPr>
        <p:spPr>
          <a:xfrm>
            <a:off x="576375" y="434725"/>
            <a:ext cx="78399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Audience Engagement Across Marketing Channels and Audience Type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6" name="Google Shape;126;g3e9c614b64f_0_7"/>
          <p:cNvSpPr txBox="1"/>
          <p:nvPr/>
        </p:nvSpPr>
        <p:spPr>
          <a:xfrm>
            <a:off x="312625" y="1563075"/>
            <a:ext cx="36162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Quick wins</a:t>
            </a: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Retarget social media leads to improve conversions.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Long-term strategies</a:t>
            </a: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By understanding which audience groups generate higher likes, shares, leads, and conversions, GlowUp can create more personalized campaigns that match customer interests and preferences.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7" name="Google Shape;127;g3e9c614b64f_0_7"/>
          <p:cNvPicPr preferRelativeResize="0"/>
          <p:nvPr/>
        </p:nvPicPr>
        <p:blipFill rotWithShape="1">
          <a:blip r:embed="rId3">
            <a:alphaModFix/>
          </a:blip>
          <a:srcRect b="0" l="0" r="0" t="990"/>
          <a:stretch/>
        </p:blipFill>
        <p:spPr>
          <a:xfrm>
            <a:off x="4155850" y="1249225"/>
            <a:ext cx="4062174" cy="292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/>
          <p:nvPr/>
        </p:nvSpPr>
        <p:spPr>
          <a:xfrm>
            <a:off x="619200" y="619199"/>
            <a:ext cx="3194811" cy="487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Channel Analysis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3" name="Google Shape;133;p10"/>
          <p:cNvSpPr txBox="1"/>
          <p:nvPr/>
        </p:nvSpPr>
        <p:spPr>
          <a:xfrm>
            <a:off x="319650" y="1981850"/>
            <a:ext cx="3281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Radiance Revival converted most of the leads into Conversations.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Best and worst performing campaign across all channels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4" name="Google Shape;134;p10"/>
          <p:cNvPicPr preferRelativeResize="0"/>
          <p:nvPr/>
        </p:nvPicPr>
        <p:blipFill rotWithShape="1">
          <a:blip r:embed="rId3">
            <a:alphaModFix/>
          </a:blip>
          <a:srcRect b="0" l="0" r="0" t="970"/>
          <a:stretch/>
        </p:blipFill>
        <p:spPr>
          <a:xfrm>
            <a:off x="3753325" y="1291850"/>
            <a:ext cx="4756800" cy="3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9c614b64f_0_12"/>
          <p:cNvSpPr/>
          <p:nvPr/>
        </p:nvSpPr>
        <p:spPr>
          <a:xfrm>
            <a:off x="619200" y="619199"/>
            <a:ext cx="31947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Channel Analysis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0" name="Google Shape;140;g3e9c614b64f_0_12"/>
          <p:cNvSpPr txBox="1"/>
          <p:nvPr/>
        </p:nvSpPr>
        <p:spPr>
          <a:xfrm>
            <a:off x="907400" y="1691097"/>
            <a:ext cx="209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1" name="Google Shape;141;g3e9c614b64f_0_12"/>
          <p:cNvSpPr txBox="1"/>
          <p:nvPr/>
        </p:nvSpPr>
        <p:spPr>
          <a:xfrm>
            <a:off x="678150" y="1342000"/>
            <a:ext cx="3534300" cy="30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Quick wins</a:t>
            </a: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Retarget high-potential leads from Social Media campaigns as people are actively searching for products mainly adults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Long-term strategies</a:t>
            </a: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Enhance customer engagement strategies through Surveys  to improve conversion rates and revenue growth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2" name="Google Shape;142;g3e9c614b64f_0_12"/>
          <p:cNvPicPr preferRelativeResize="0"/>
          <p:nvPr/>
        </p:nvPicPr>
        <p:blipFill rotWithShape="1">
          <a:blip r:embed="rId3">
            <a:alphaModFix/>
          </a:blip>
          <a:srcRect b="-10" l="289" r="0" t="813"/>
          <a:stretch/>
        </p:blipFill>
        <p:spPr>
          <a:xfrm>
            <a:off x="4225925" y="1035700"/>
            <a:ext cx="4613275" cy="323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/>
          <p:nvPr/>
        </p:nvSpPr>
        <p:spPr>
          <a:xfrm>
            <a:off x="619200" y="619200"/>
            <a:ext cx="81468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Marketing Funnel Analysis — Impressions to Conversions 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8" name="Google Shape;148;p11"/>
          <p:cNvSpPr txBox="1"/>
          <p:nvPr/>
        </p:nvSpPr>
        <p:spPr>
          <a:xfrm>
            <a:off x="188975" y="1695850"/>
            <a:ext cx="3474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customer journey from campaign reach to final customer conversions.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5 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Funnel Stages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Only 0.5% of total impressions became final customers.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9" name="Google Shape;149;p11"/>
          <p:cNvPicPr preferRelativeResize="0"/>
          <p:nvPr/>
        </p:nvPicPr>
        <p:blipFill rotWithShape="1">
          <a:blip r:embed="rId3">
            <a:alphaModFix/>
          </a:blip>
          <a:srcRect b="0" l="329" r="0" t="794"/>
          <a:stretch/>
        </p:blipFill>
        <p:spPr>
          <a:xfrm>
            <a:off x="3833075" y="1356750"/>
            <a:ext cx="5158525" cy="270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9c614b64f_0_17"/>
          <p:cNvSpPr/>
          <p:nvPr/>
        </p:nvSpPr>
        <p:spPr>
          <a:xfrm>
            <a:off x="619200" y="619200"/>
            <a:ext cx="76896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Marketing Funnel Analysis — Impressions to Conversions 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5" name="Google Shape;155;g3e9c614b64f_0_17"/>
          <p:cNvSpPr txBox="1"/>
          <p:nvPr/>
        </p:nvSpPr>
        <p:spPr>
          <a:xfrm>
            <a:off x="536450" y="1712975"/>
            <a:ext cx="35112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Quick wins</a:t>
            </a: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Optimize campaign timing and regional targeting.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Long-term strategies</a:t>
            </a: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Makes Changes in UI part of website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6" name="Google Shape;156;g3e9c614b64f_0_17"/>
          <p:cNvPicPr preferRelativeResize="0"/>
          <p:nvPr/>
        </p:nvPicPr>
        <p:blipFill rotWithShape="1">
          <a:blip r:embed="rId3">
            <a:alphaModFix/>
          </a:blip>
          <a:srcRect b="0" l="249" r="0" t="853"/>
          <a:stretch/>
        </p:blipFill>
        <p:spPr>
          <a:xfrm>
            <a:off x="4211875" y="1515800"/>
            <a:ext cx="4779725" cy="250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>
            <p:ph type="title"/>
          </p:nvPr>
        </p:nvSpPr>
        <p:spPr>
          <a:xfrm>
            <a:off x="348916" y="533520"/>
            <a:ext cx="3889364" cy="11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Conclusions </a:t>
            </a:r>
            <a:endParaRPr b="0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2" name="Google Shape;162;p13"/>
          <p:cNvSpPr txBox="1"/>
          <p:nvPr>
            <p:ph idx="1" type="body"/>
          </p:nvPr>
        </p:nvSpPr>
        <p:spPr>
          <a:xfrm>
            <a:off x="463250" y="1055450"/>
            <a:ext cx="8277900" cy="3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This Project a</a:t>
            </a: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nalyze GlowUp Marketing Campaign ROI Analysis to provide necessary business recommendations to identify which campaigns and channels generate the highest ROI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glow Blueprint has the </a:t>
            </a: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Highest ROI</a:t>
            </a: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, particularly in events. So, </a:t>
            </a: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is the Best campaign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Social Media has less response compared to other channels, among all types of audiences respond equally.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Only 0.5% of total impressions became final customers.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Based on the insights, the company should focus more on high-performing campaigns, improve audience targeting to improve future marketing performance and revenue growth.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Overall, this project shows how Microsoft Power BI and business analytics can help companies make smarter marketing decisions.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196850" lvl="0" marL="5143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/>
          <p:nvPr/>
        </p:nvSpPr>
        <p:spPr>
          <a:xfrm>
            <a:off x="1961147" y="619200"/>
            <a:ext cx="4391528" cy="80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 u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Thank You</a:t>
            </a:r>
            <a:endParaRPr/>
          </a:p>
        </p:txBody>
      </p:sp>
      <p:sp>
        <p:nvSpPr>
          <p:cNvPr id="168" name="Google Shape;168;p14"/>
          <p:cNvSpPr txBox="1"/>
          <p:nvPr/>
        </p:nvSpPr>
        <p:spPr>
          <a:xfrm>
            <a:off x="825275" y="1428475"/>
            <a:ext cx="7863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Any Questions/feedback?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Check out </a:t>
            </a:r>
            <a:r>
              <a:rPr b="1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Working Model</a:t>
            </a: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Here:</a:t>
            </a: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Case Study 4 GlowUp Marketing Campaign ROI Analysis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825275" y="2902575"/>
            <a:ext cx="2808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Connect me at: </a:t>
            </a:r>
            <a:endParaRPr sz="1600" u="sng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Sai Jhansi Kongara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0" name="Google Shape;17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7797" y="2999125"/>
            <a:ext cx="424543" cy="424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4"/>
          <p:cNvPicPr preferRelativeResize="0"/>
          <p:nvPr/>
        </p:nvPicPr>
        <p:blipFill rotWithShape="1">
          <a:blip r:embed="rId7">
            <a:alphaModFix/>
          </a:blip>
          <a:srcRect b="0" l="0" r="0" t="47052"/>
          <a:stretch/>
        </p:blipFill>
        <p:spPr>
          <a:xfrm flipH="1" rot="10800000">
            <a:off x="-138240" y="3435120"/>
            <a:ext cx="9419761" cy="1770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uturistic Pattern Social Media Strategy by Slidesgo">
  <a:themeElements>
    <a:clrScheme name="Simple Light">
      <a:dk1>
        <a:srgbClr val="FFFFFF"/>
      </a:dk1>
      <a:lt1>
        <a:srgbClr val="0E0734"/>
      </a:lt1>
      <a:dk2>
        <a:srgbClr val="17216B"/>
      </a:dk2>
      <a:lt2>
        <a:srgbClr val="DF3CB0"/>
      </a:lt2>
      <a:accent1>
        <a:srgbClr val="8944BF"/>
      </a:accent1>
      <a:accent2>
        <a:srgbClr val="3060ED"/>
      </a:accent2>
      <a:accent3>
        <a:srgbClr val="4DE6EC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12.0</vt:r8>
  </property>
</Properties>
</file>