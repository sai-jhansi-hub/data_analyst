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Noto Sans Symbols" panose="020B0604020202020204" charset="0"/>
      <p:regular r:id="rId18"/>
      <p:bold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QqVjVLD6UCDLxMR1L/10rQqTO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9c6161717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e9c6161717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9c616171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e9c616171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9c6161717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9c6161717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9c6161717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e9c616171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_1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c6161717_0_60"/>
          <p:cNvSpPr txBox="1">
            <a:spLocks noGrp="1"/>
          </p:cNvSpPr>
          <p:nvPr>
            <p:ph type="title"/>
          </p:nvPr>
        </p:nvSpPr>
        <p:spPr>
          <a:xfrm>
            <a:off x="1445040" y="1079280"/>
            <a:ext cx="153978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>
            <a:endParaRPr/>
          </a:p>
        </p:txBody>
      </p:sp>
      <p:grpSp>
        <p:nvGrpSpPr>
          <p:cNvPr id="82" name="Google Shape;82;g3e9c6161717_0_60"/>
          <p:cNvGrpSpPr/>
          <p:nvPr/>
        </p:nvGrpSpPr>
        <p:grpSpPr>
          <a:xfrm>
            <a:off x="11457360" y="-648000"/>
            <a:ext cx="6830640" cy="1727400"/>
            <a:chOff x="5728680" y="-324000"/>
            <a:chExt cx="3415320" cy="863700"/>
          </a:xfrm>
        </p:grpSpPr>
        <p:cxnSp>
          <p:nvCxnSpPr>
            <p:cNvPr id="83" name="Google Shape;83;g3e9c6161717_0_60"/>
            <p:cNvCxnSpPr/>
            <p:nvPr/>
          </p:nvCxnSpPr>
          <p:spPr>
            <a:xfrm flipH="1">
              <a:off x="5728800" y="-324000"/>
              <a:ext cx="34152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g3e9c6161717_0_60"/>
            <p:cNvCxnSpPr/>
            <p:nvPr/>
          </p:nvCxnSpPr>
          <p:spPr>
            <a:xfrm>
              <a:off x="871488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g3e9c6161717_0_60"/>
            <p:cNvCxnSpPr/>
            <p:nvPr/>
          </p:nvCxnSpPr>
          <p:spPr>
            <a:xfrm>
              <a:off x="828576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g3e9c6161717_0_60"/>
            <p:cNvCxnSpPr/>
            <p:nvPr/>
          </p:nvCxnSpPr>
          <p:spPr>
            <a:xfrm>
              <a:off x="786240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g3e9c6161717_0_60"/>
            <p:cNvCxnSpPr/>
            <p:nvPr/>
          </p:nvCxnSpPr>
          <p:spPr>
            <a:xfrm>
              <a:off x="743328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g3e9c6161717_0_60"/>
            <p:cNvCxnSpPr/>
            <p:nvPr/>
          </p:nvCxnSpPr>
          <p:spPr>
            <a:xfrm>
              <a:off x="700992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g3e9c6161717_0_60"/>
            <p:cNvCxnSpPr/>
            <p:nvPr/>
          </p:nvCxnSpPr>
          <p:spPr>
            <a:xfrm>
              <a:off x="658080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g3e9c6161717_0_60"/>
            <p:cNvCxnSpPr/>
            <p:nvPr/>
          </p:nvCxnSpPr>
          <p:spPr>
            <a:xfrm>
              <a:off x="615744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g3e9c6161717_0_60"/>
            <p:cNvCxnSpPr/>
            <p:nvPr/>
          </p:nvCxnSpPr>
          <p:spPr>
            <a:xfrm>
              <a:off x="5728680" y="-324000"/>
              <a:ext cx="300" cy="863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g3e9c6161717_0_60"/>
            <p:cNvCxnSpPr/>
            <p:nvPr/>
          </p:nvCxnSpPr>
          <p:spPr>
            <a:xfrm flipH="1">
              <a:off x="5728800" y="104760"/>
              <a:ext cx="34152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g3e9c6161717_0_60"/>
            <p:cNvCxnSpPr/>
            <p:nvPr/>
          </p:nvCxnSpPr>
          <p:spPr>
            <a:xfrm flipH="1">
              <a:off x="5728800" y="539280"/>
              <a:ext cx="3415200" cy="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4" name="Google Shape;94;g3e9c6161717_0_60"/>
          <p:cNvSpPr/>
          <p:nvPr/>
        </p:nvSpPr>
        <p:spPr>
          <a:xfrm rot="-5400000">
            <a:off x="-1407710" y="4319240"/>
            <a:ext cx="2777910" cy="2154891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5" name="Google Shape;95;g3e9c6161717_0_60"/>
          <p:cNvGrpSpPr/>
          <p:nvPr/>
        </p:nvGrpSpPr>
        <p:grpSpPr>
          <a:xfrm>
            <a:off x="1443480" y="9208080"/>
            <a:ext cx="4557000" cy="660000"/>
            <a:chOff x="721740" y="4604040"/>
            <a:chExt cx="2278500" cy="330000"/>
          </a:xfrm>
        </p:grpSpPr>
        <p:sp>
          <p:nvSpPr>
            <p:cNvPr id="96" name="Google Shape;96;g3e9c6161717_0_60"/>
            <p:cNvSpPr/>
            <p:nvPr/>
          </p:nvSpPr>
          <p:spPr>
            <a:xfrm flipH="1">
              <a:off x="721740" y="4604040"/>
              <a:ext cx="2278500" cy="330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" name="Google Shape;97;g3e9c6161717_0_60"/>
            <p:cNvSpPr/>
            <p:nvPr/>
          </p:nvSpPr>
          <p:spPr>
            <a:xfrm flipH="1">
              <a:off x="774000" y="4665600"/>
              <a:ext cx="469800" cy="207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8" name="Google Shape;98;g3e9c6161717_0_60"/>
          <p:cNvGrpSpPr/>
          <p:nvPr/>
        </p:nvGrpSpPr>
        <p:grpSpPr>
          <a:xfrm>
            <a:off x="-252000" y="148560"/>
            <a:ext cx="1627200" cy="1635600"/>
            <a:chOff x="-126000" y="74280"/>
            <a:chExt cx="813600" cy="817800"/>
          </a:xfrm>
        </p:grpSpPr>
        <p:sp>
          <p:nvSpPr>
            <p:cNvPr id="99" name="Google Shape;99;g3e9c6161717_0_60"/>
            <p:cNvSpPr/>
            <p:nvPr/>
          </p:nvSpPr>
          <p:spPr>
            <a:xfrm flipH="1">
              <a:off x="-72000" y="13104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g3e9c6161717_0_60"/>
            <p:cNvSpPr/>
            <p:nvPr/>
          </p:nvSpPr>
          <p:spPr>
            <a:xfrm rot="5400000" flipH="1">
              <a:off x="-128100" y="76380"/>
              <a:ext cx="81780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01" name="Google Shape;101;g3e9c6161717_0_60"/>
          <p:cNvCxnSpPr/>
          <p:nvPr/>
        </p:nvCxnSpPr>
        <p:spPr>
          <a:xfrm>
            <a:off x="1463040" y="9207360"/>
            <a:ext cx="16924800" cy="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g3e9c6161717_0_60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16458600" cy="59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sai-jhansi-kongara-831a871a4/?lipi=urn%3Ali%3Apage%3Ad_flagship3_profile_view_base_contact_details%3BlNmOd3KFQoqlNbvDPFobqw%3D%3D" TargetMode="External"/><Relationship Id="rId4" Type="http://schemas.openxmlformats.org/officeDocument/2006/relationships/hyperlink" Target="https://drive.google.com/drive/folders/17fsIxJNL51Yvgakg-gJXKYsW6wbT-hZh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236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"/>
          <p:cNvCxnSpPr/>
          <p:nvPr/>
        </p:nvCxnSpPr>
        <p:spPr>
          <a:xfrm rot="5400000">
            <a:off x="8608867" y="5129212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1"/>
          <p:cNvSpPr txBox="1"/>
          <p:nvPr/>
        </p:nvSpPr>
        <p:spPr>
          <a:xfrm>
            <a:off x="13752375" y="7660025"/>
            <a:ext cx="42309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Sai Jhansi Kongar</a:t>
            </a:r>
            <a:r>
              <a:rPr lang="en-US" sz="2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Student at Sharpener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Tech</a:t>
            </a:r>
            <a:endParaRPr sz="2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184400" y="3257075"/>
            <a:ext cx="11891700" cy="3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Case Study 2: Boxify</a:t>
            </a:r>
            <a:r>
              <a:rPr lang="en-US" sz="72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’s</a:t>
            </a:r>
            <a:r>
              <a:rPr lang="en-US" sz="7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E-commerce Customer Churn Analysis</a:t>
            </a:r>
            <a:endParaRPr sz="7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>
            <a:off x="0" y="-73092"/>
            <a:ext cx="18288000" cy="2866500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36523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183320" y="807120"/>
            <a:ext cx="796068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118" name="Google Shape;118;p2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119" name="Google Shape;119;p2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69725" y="2970425"/>
            <a:ext cx="17356500" cy="51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Boxify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an online subscription box service that delivers monthly lifestyle and Handpicked products to customers. 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Analyze </a:t>
            </a:r>
            <a:r>
              <a:rPr lang="en-US" sz="2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Boxify’s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E-commerce Customer churn over the last 3 years to provide necessary business recommendations to improve customer retention and reduce revenue loss. 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Objective:</a:t>
            </a:r>
            <a:endParaRPr sz="24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Reduce churn rate by </a:t>
            </a: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5–10%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over the next 6 months.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Identify high-risk customer segments.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 strategies to </a:t>
            </a: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retain subscribers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increase loyalty.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369725" y="7543800"/>
            <a:ext cx="9536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Used: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Microsoft Power BI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Spreadsheet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236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8551397" cy="10287000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28700" y="933450"/>
            <a:ext cx="8115300" cy="200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Business Analysis</a:t>
            </a:r>
            <a:endParaRPr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0250" y="2165771"/>
            <a:ext cx="11288400" cy="7241700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-1" y="0"/>
            <a:ext cx="18288000" cy="2866618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183326" y="807125"/>
            <a:ext cx="13382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Dataset &amp; EDA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138" name="Google Shape;138;p3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139" name="Google Shape;139;p3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1" name="Google Shape;141;p3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2" name="Google Shape;142;p3"/>
          <p:cNvPicPr preferRelativeResize="0"/>
          <p:nvPr/>
        </p:nvPicPr>
        <p:blipFill rotWithShape="1">
          <a:blip r:embed="rId3">
            <a:alphaModFix/>
          </a:blip>
          <a:srcRect r="23207" b="-2085"/>
          <a:stretch/>
        </p:blipFill>
        <p:spPr>
          <a:xfrm>
            <a:off x="0" y="2793526"/>
            <a:ext cx="18287999" cy="174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00" y="4733904"/>
            <a:ext cx="18259899" cy="1432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/>
          <p:nvPr/>
        </p:nvSpPr>
        <p:spPr>
          <a:xfrm>
            <a:off x="13053450" y="6655800"/>
            <a:ext cx="4922700" cy="25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3000 Boxify’s E-commerce customer 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entries</a:t>
            </a:r>
            <a:r>
              <a:rPr lang="en-US" sz="240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from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last 3 years FY 2023 - 2025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128600" y="6531950"/>
            <a:ext cx="8852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 driven Dataset.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Replacing null Values are with “0”.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Blank Text entries with “Unknown".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6" name="Google Shape;14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286325"/>
            <a:ext cx="1377320" cy="184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220" y="8400838"/>
            <a:ext cx="18288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5"/>
          <p:cNvGrpSpPr/>
          <p:nvPr/>
        </p:nvGrpSpPr>
        <p:grpSpPr>
          <a:xfrm>
            <a:off x="0" y="-189135"/>
            <a:ext cx="18288000" cy="2284638"/>
            <a:chOff x="0" y="-76200"/>
            <a:chExt cx="4816593" cy="920444"/>
          </a:xfrm>
        </p:grpSpPr>
        <p:sp>
          <p:nvSpPr>
            <p:cNvPr id="153" name="Google Shape;153;p5"/>
            <p:cNvSpPr/>
            <p:nvPr/>
          </p:nvSpPr>
          <p:spPr>
            <a:xfrm>
              <a:off x="0" y="0"/>
              <a:ext cx="4816592" cy="844244"/>
            </a:xfrm>
            <a:custGeom>
              <a:avLst/>
              <a:gdLst/>
              <a:ahLst/>
              <a:cxnLst/>
              <a:rect l="l" t="t" r="r" b="b"/>
              <a:pathLst>
                <a:path w="4816592" h="844244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4244"/>
                  </a:lnTo>
                  <a:lnTo>
                    <a:pt x="0" y="844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0" y="-76200"/>
              <a:ext cx="4816593" cy="920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5"/>
          <p:cNvSpPr txBox="1"/>
          <p:nvPr/>
        </p:nvSpPr>
        <p:spPr>
          <a:xfrm>
            <a:off x="1035754" y="570340"/>
            <a:ext cx="16216492" cy="95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DAX Measures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pic>
        <p:nvPicPr>
          <p:cNvPr id="157" name="Google Shape;15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50" y="5882775"/>
            <a:ext cx="15562724" cy="132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050" y="2268976"/>
            <a:ext cx="17709926" cy="313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041" y="7683450"/>
            <a:ext cx="12099734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0"/>
            <a:ext cx="18288000" cy="2671736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609600" y="723900"/>
            <a:ext cx="9753600" cy="151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Summary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088" y="3429000"/>
            <a:ext cx="2440375" cy="16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32725" y="3462575"/>
            <a:ext cx="3186650" cy="15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8975" y="3429000"/>
            <a:ext cx="3876675" cy="16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7100" y="5836475"/>
            <a:ext cx="2798460" cy="16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8975" y="5836475"/>
            <a:ext cx="3876675" cy="1650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0"/>
            <a:ext cx="8551397" cy="10287000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870850" y="3429000"/>
            <a:ext cx="7184700" cy="6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Business Insights </a:t>
            </a:r>
            <a:r>
              <a:rPr lang="en-US" sz="4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US" sz="4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Recommendations </a:t>
            </a:r>
            <a:endParaRPr sz="4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 terms of Quick wins and long-term strategies</a:t>
            </a:r>
            <a:endParaRPr sz="4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4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4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499" b="1">
              <a:solidFill>
                <a:schemeClr val="lt1"/>
              </a:solidFill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9296400" y="2476500"/>
            <a:ext cx="774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" descr="image6a07145da6d3e"/>
          <p:cNvSpPr/>
          <p:nvPr/>
        </p:nvSpPr>
        <p:spPr>
          <a:xfrm>
            <a:off x="9601200" y="514505"/>
            <a:ext cx="8229000" cy="9258000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80000" tIns="90000" rIns="180000" bIns="90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7"/>
          <p:cNvGrpSpPr/>
          <p:nvPr/>
        </p:nvGrpSpPr>
        <p:grpSpPr>
          <a:xfrm>
            <a:off x="0" y="-195705"/>
            <a:ext cx="19126200" cy="2559228"/>
            <a:chOff x="0" y="-104775"/>
            <a:chExt cx="1427552" cy="1370139"/>
          </a:xfrm>
        </p:grpSpPr>
        <p:sp>
          <p:nvSpPr>
            <p:cNvPr id="186" name="Google Shape;186;p7"/>
            <p:cNvSpPr/>
            <p:nvPr/>
          </p:nvSpPr>
          <p:spPr>
            <a:xfrm>
              <a:off x="0" y="0"/>
              <a:ext cx="1427552" cy="1265364"/>
            </a:xfrm>
            <a:custGeom>
              <a:avLst/>
              <a:gdLst/>
              <a:ahLst/>
              <a:cxnLst/>
              <a:rect l="l" t="t" r="r" b="b"/>
              <a:pathLst>
                <a:path w="1427552" h="1265364" extrusionOk="0">
                  <a:moveTo>
                    <a:pt x="0" y="0"/>
                  </a:moveTo>
                  <a:lnTo>
                    <a:pt x="1427552" y="0"/>
                  </a:lnTo>
                  <a:lnTo>
                    <a:pt x="1427552" y="1265364"/>
                  </a:lnTo>
                  <a:lnTo>
                    <a:pt x="0" y="1265364"/>
                  </a:lnTo>
                  <a:close/>
                </a:path>
              </a:pathLst>
            </a:custGeom>
            <a:solidFill>
              <a:srgbClr val="7C987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0" y="-104775"/>
              <a:ext cx="1427552" cy="1370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b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7"/>
          <p:cNvGrpSpPr/>
          <p:nvPr/>
        </p:nvGrpSpPr>
        <p:grpSpPr>
          <a:xfrm>
            <a:off x="0" y="1788598"/>
            <a:ext cx="19126199" cy="8498423"/>
            <a:chOff x="0" y="-104775"/>
            <a:chExt cx="1427552" cy="1548744"/>
          </a:xfrm>
        </p:grpSpPr>
        <p:sp>
          <p:nvSpPr>
            <p:cNvPr id="189" name="Google Shape;189;p7"/>
            <p:cNvSpPr/>
            <p:nvPr/>
          </p:nvSpPr>
          <p:spPr>
            <a:xfrm>
              <a:off x="0" y="0"/>
              <a:ext cx="1427552" cy="1443969"/>
            </a:xfrm>
            <a:custGeom>
              <a:avLst/>
              <a:gdLst/>
              <a:ahLst/>
              <a:cxnLst/>
              <a:rect l="l" t="t" r="r" b="b"/>
              <a:pathLst>
                <a:path w="1427552" h="1443969" extrusionOk="0">
                  <a:moveTo>
                    <a:pt x="0" y="0"/>
                  </a:moveTo>
                  <a:lnTo>
                    <a:pt x="1427552" y="0"/>
                  </a:lnTo>
                  <a:lnTo>
                    <a:pt x="1427552" y="1443969"/>
                  </a:lnTo>
                  <a:lnTo>
                    <a:pt x="0" y="1443969"/>
                  </a:lnTo>
                  <a:close/>
                </a:path>
              </a:pathLst>
            </a:custGeom>
            <a:solidFill>
              <a:srgbClr val="3652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0" y="-104775"/>
              <a:ext cx="1427552" cy="1548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b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7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914400" y="641407"/>
            <a:ext cx="14006383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310243" y="3657600"/>
            <a:ext cx="8180614" cy="4007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45+ showed higher churn also retention.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Younger customers may require: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Better engagement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Personalized offers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 l="539" t="1507" r="1373"/>
          <a:stretch/>
        </p:blipFill>
        <p:spPr>
          <a:xfrm>
            <a:off x="8616325" y="3324475"/>
            <a:ext cx="9848825" cy="48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g3e9c6161717_0_83"/>
          <p:cNvGrpSpPr/>
          <p:nvPr/>
        </p:nvGrpSpPr>
        <p:grpSpPr>
          <a:xfrm>
            <a:off x="0" y="-195709"/>
            <a:ext cx="19128182" cy="2559283"/>
            <a:chOff x="0" y="-104775"/>
            <a:chExt cx="1427700" cy="1370139"/>
          </a:xfrm>
        </p:grpSpPr>
        <p:sp>
          <p:nvSpPr>
            <p:cNvPr id="200" name="Google Shape;200;g3e9c6161717_0_83"/>
            <p:cNvSpPr/>
            <p:nvPr/>
          </p:nvSpPr>
          <p:spPr>
            <a:xfrm>
              <a:off x="0" y="0"/>
              <a:ext cx="1427552" cy="1265364"/>
            </a:xfrm>
            <a:custGeom>
              <a:avLst/>
              <a:gdLst/>
              <a:ahLst/>
              <a:cxnLst/>
              <a:rect l="l" t="t" r="r" b="b"/>
              <a:pathLst>
                <a:path w="1427552" h="1265364" extrusionOk="0">
                  <a:moveTo>
                    <a:pt x="0" y="0"/>
                  </a:moveTo>
                  <a:lnTo>
                    <a:pt x="1427552" y="0"/>
                  </a:lnTo>
                  <a:lnTo>
                    <a:pt x="1427552" y="1265364"/>
                  </a:lnTo>
                  <a:lnTo>
                    <a:pt x="0" y="1265364"/>
                  </a:lnTo>
                  <a:close/>
                </a:path>
              </a:pathLst>
            </a:custGeom>
            <a:solidFill>
              <a:srgbClr val="7C987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e9c6161717_0_83"/>
            <p:cNvSpPr txBox="1"/>
            <p:nvPr/>
          </p:nvSpPr>
          <p:spPr>
            <a:xfrm>
              <a:off x="0" y="-104775"/>
              <a:ext cx="1427700" cy="137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b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g3e9c6161717_0_83"/>
          <p:cNvGrpSpPr/>
          <p:nvPr/>
        </p:nvGrpSpPr>
        <p:grpSpPr>
          <a:xfrm>
            <a:off x="0" y="1788598"/>
            <a:ext cx="19128182" cy="8498423"/>
            <a:chOff x="0" y="-104775"/>
            <a:chExt cx="1427700" cy="1548744"/>
          </a:xfrm>
        </p:grpSpPr>
        <p:sp>
          <p:nvSpPr>
            <p:cNvPr id="203" name="Google Shape;203;g3e9c6161717_0_83"/>
            <p:cNvSpPr/>
            <p:nvPr/>
          </p:nvSpPr>
          <p:spPr>
            <a:xfrm>
              <a:off x="0" y="0"/>
              <a:ext cx="1427552" cy="1443969"/>
            </a:xfrm>
            <a:custGeom>
              <a:avLst/>
              <a:gdLst/>
              <a:ahLst/>
              <a:cxnLst/>
              <a:rect l="l" t="t" r="r" b="b"/>
              <a:pathLst>
                <a:path w="1427552" h="1443969" extrusionOk="0">
                  <a:moveTo>
                    <a:pt x="0" y="0"/>
                  </a:moveTo>
                  <a:lnTo>
                    <a:pt x="1427552" y="0"/>
                  </a:lnTo>
                  <a:lnTo>
                    <a:pt x="1427552" y="1443969"/>
                  </a:lnTo>
                  <a:lnTo>
                    <a:pt x="0" y="1443969"/>
                  </a:lnTo>
                  <a:close/>
                </a:path>
              </a:pathLst>
            </a:custGeom>
            <a:solidFill>
              <a:srgbClr val="3652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e9c6161717_0_83"/>
            <p:cNvSpPr txBox="1"/>
            <p:nvPr/>
          </p:nvSpPr>
          <p:spPr>
            <a:xfrm>
              <a:off x="0" y="-104775"/>
              <a:ext cx="1427700" cy="15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b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e9c6161717_0_83"/>
          <p:cNvSpPr txBox="1"/>
          <p:nvPr/>
        </p:nvSpPr>
        <p:spPr>
          <a:xfrm>
            <a:off x="17041490" y="9169344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06" name="Google Shape;206;g3e9c6161717_0_83"/>
          <p:cNvSpPr txBox="1"/>
          <p:nvPr/>
        </p:nvSpPr>
        <p:spPr>
          <a:xfrm>
            <a:off x="914400" y="641407"/>
            <a:ext cx="14006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/>
          </a:p>
        </p:txBody>
      </p:sp>
      <p:sp>
        <p:nvSpPr>
          <p:cNvPr id="207" name="Google Shape;207;g3e9c6161717_0_83"/>
          <p:cNvSpPr txBox="1"/>
          <p:nvPr/>
        </p:nvSpPr>
        <p:spPr>
          <a:xfrm>
            <a:off x="674175" y="2836200"/>
            <a:ext cx="7636800" cy="6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lang="en-US" sz="36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(0–3 Months)</a:t>
            </a:r>
            <a:r>
              <a:rPr lang="en-US" sz="3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Recommendations to actions: </a:t>
            </a:r>
            <a:endParaRPr sz="36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Char char="●"/>
            </a:pPr>
            <a:r>
              <a:rPr lang="en-US" sz="3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Launch personalized email campaigns for inactive customers. </a:t>
            </a:r>
            <a:endParaRPr sz="36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lang="en-US" sz="36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(3–12 Months)</a:t>
            </a:r>
            <a:r>
              <a:rPr lang="en-US" sz="3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36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Char char="●"/>
            </a:pPr>
            <a:r>
              <a:rPr lang="en-US" sz="3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Collect customer feedback through surveys.  </a:t>
            </a:r>
            <a:endParaRPr sz="36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8" name="Google Shape;208;g3e9c6161717_0_83"/>
          <p:cNvPicPr preferRelativeResize="0"/>
          <p:nvPr/>
        </p:nvPicPr>
        <p:blipFill rotWithShape="1">
          <a:blip r:embed="rId3">
            <a:alphaModFix/>
          </a:blip>
          <a:srcRect l="539" t="1507" r="1373"/>
          <a:stretch/>
        </p:blipFill>
        <p:spPr>
          <a:xfrm>
            <a:off x="8616325" y="3324475"/>
            <a:ext cx="9848825" cy="48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23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30892" y="15446"/>
            <a:ext cx="18288000" cy="2793827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304800" y="1257300"/>
            <a:ext cx="12801600" cy="9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 sz="8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6" name="Google Shape;216;p8"/>
          <p:cNvPicPr preferRelativeResize="0"/>
          <p:nvPr/>
        </p:nvPicPr>
        <p:blipFill rotWithShape="1">
          <a:blip r:embed="rId3">
            <a:alphaModFix/>
          </a:blip>
          <a:srcRect l="1389" t="844" r="773" b="991"/>
          <a:stretch/>
        </p:blipFill>
        <p:spPr>
          <a:xfrm>
            <a:off x="9279625" y="3127100"/>
            <a:ext cx="6999400" cy="65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 txBox="1"/>
          <p:nvPr/>
        </p:nvSpPr>
        <p:spPr>
          <a:xfrm>
            <a:off x="639300" y="5312050"/>
            <a:ext cx="73926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Revenue Statistics:</a:t>
            </a: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236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9c6161717_0_96"/>
          <p:cNvSpPr txBox="1"/>
          <p:nvPr/>
        </p:nvSpPr>
        <p:spPr>
          <a:xfrm>
            <a:off x="17041490" y="9169344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3" name="Google Shape;223;g3e9c6161717_0_96"/>
          <p:cNvSpPr/>
          <p:nvPr/>
        </p:nvSpPr>
        <p:spPr>
          <a:xfrm>
            <a:off x="30892" y="15446"/>
            <a:ext cx="18288000" cy="279390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9c6161717_0_96"/>
          <p:cNvSpPr txBox="1"/>
          <p:nvPr/>
        </p:nvSpPr>
        <p:spPr>
          <a:xfrm>
            <a:off x="304800" y="1257300"/>
            <a:ext cx="128016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 sz="8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5" name="Google Shape;225;g3e9c6161717_0_96"/>
          <p:cNvSpPr txBox="1"/>
          <p:nvPr/>
        </p:nvSpPr>
        <p:spPr>
          <a:xfrm>
            <a:off x="1241700" y="3715550"/>
            <a:ext cx="8533800" cy="5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lang="en-US" sz="36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Char char="●"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Offer referral discounts and promotional incentives may reduce churn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lang="en-US" sz="36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Optimize subscription plans and pricing strategies. 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6" name="Google Shape;226;g3e9c6161717_0_96"/>
          <p:cNvPicPr preferRelativeResize="0"/>
          <p:nvPr/>
        </p:nvPicPr>
        <p:blipFill rotWithShape="1">
          <a:blip r:embed="rId3">
            <a:alphaModFix/>
          </a:blip>
          <a:srcRect l="1389" t="844" r="773" b="991"/>
          <a:stretch/>
        </p:blipFill>
        <p:spPr>
          <a:xfrm>
            <a:off x="10540975" y="3045725"/>
            <a:ext cx="7316100" cy="68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236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0" y="0"/>
            <a:ext cx="18288000" cy="2793827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 sz="8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127499" y="3963700"/>
            <a:ext cx="4505858" cy="163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4" name="Google Shape;234;p9"/>
          <p:cNvPicPr preferRelativeResize="0"/>
          <p:nvPr/>
        </p:nvPicPr>
        <p:blipFill rotWithShape="1">
          <a:blip r:embed="rId3">
            <a:alphaModFix/>
          </a:blip>
          <a:srcRect l="534" t="1271" r="515" b="987"/>
          <a:stretch/>
        </p:blipFill>
        <p:spPr>
          <a:xfrm>
            <a:off x="6661096" y="2988018"/>
            <a:ext cx="7545725" cy="641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23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9c6161717_0_103"/>
          <p:cNvSpPr/>
          <p:nvPr/>
        </p:nvSpPr>
        <p:spPr>
          <a:xfrm>
            <a:off x="0" y="0"/>
            <a:ext cx="18288000" cy="279390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87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 sz="88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0" name="Google Shape;240;g3e9c6161717_0_103"/>
          <p:cNvSpPr txBox="1"/>
          <p:nvPr/>
        </p:nvSpPr>
        <p:spPr>
          <a:xfrm>
            <a:off x="17041490" y="9169344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41" name="Google Shape;241;g3e9c6161717_0_103"/>
          <p:cNvSpPr txBox="1"/>
          <p:nvPr/>
        </p:nvSpPr>
        <p:spPr>
          <a:xfrm>
            <a:off x="646750" y="3762975"/>
            <a:ext cx="7302300" cy="43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lang="en-US" sz="36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Char char="●"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Improve customer support response time 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lang="en-US" sz="36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3600" b="1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</a:pPr>
            <a:r>
              <a:rPr lang="en-US" sz="3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Perform customer journey and behavior analysis. </a:t>
            </a:r>
            <a:endParaRPr sz="3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2" name="Google Shape;242;g3e9c6161717_0_103"/>
          <p:cNvPicPr preferRelativeResize="0"/>
          <p:nvPr/>
        </p:nvPicPr>
        <p:blipFill rotWithShape="1">
          <a:blip r:embed="rId3">
            <a:alphaModFix/>
          </a:blip>
          <a:srcRect l="534" t="1271" r="515" b="987"/>
          <a:stretch/>
        </p:blipFill>
        <p:spPr>
          <a:xfrm>
            <a:off x="9702500" y="3357550"/>
            <a:ext cx="7545725" cy="641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 txBox="1"/>
          <p:nvPr/>
        </p:nvSpPr>
        <p:spPr>
          <a:xfrm>
            <a:off x="1028700" y="933450"/>
            <a:ext cx="476935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1028700" y="5707380"/>
            <a:ext cx="4383248" cy="355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</a:t>
            </a:r>
            <a:r>
              <a:rPr lang="en-US" sz="24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nt more flexibility as a presenter? Record your presentation to engage in a way that works for you — and let your audience watch in a way that works for them.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or hide this page before sharing.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17041490" y="9169344"/>
            <a:ext cx="152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0" y="0"/>
            <a:ext cx="7348500" cy="10792200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348500" y="685800"/>
            <a:ext cx="10101300" cy="8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solidFill>
                  <a:schemeClr val="dk1"/>
                </a:solidFill>
              </a:rPr>
              <a:t>Analyzed customer churn patterns for </a:t>
            </a:r>
            <a:r>
              <a:rPr lang="en-US" sz="3600" dirty="0" err="1">
                <a:solidFill>
                  <a:schemeClr val="dk1"/>
                </a:solidFill>
              </a:rPr>
              <a:t>Boxify</a:t>
            </a:r>
            <a:r>
              <a:rPr lang="en-US" sz="3600" dirty="0">
                <a:solidFill>
                  <a:schemeClr val="dk1"/>
                </a:solidFill>
              </a:rPr>
              <a:t> subscription service.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solidFill>
                  <a:schemeClr val="dk1"/>
                </a:solidFill>
              </a:rPr>
              <a:t>Used Google Sheets and Microsoft Power BI for data cleaning and dashboard analysis.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solidFill>
                  <a:schemeClr val="dk1"/>
                </a:solidFill>
              </a:rPr>
              <a:t>Identified low engagement, high support tickets, and monthly plans as major churn factors.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solidFill>
                  <a:schemeClr val="dk1"/>
                </a:solidFill>
              </a:rPr>
              <a:t>Created dashboards to analyze customer segments, engagement, and revenue impact.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solidFill>
                  <a:schemeClr val="dk1"/>
                </a:solidFill>
              </a:rPr>
              <a:t>Recommended loyalty programs, personalized offers, and engagement strategies to improve retention.</a:t>
            </a:r>
            <a:endParaRPr sz="3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9c6161717_0_114"/>
          <p:cNvSpPr/>
          <p:nvPr/>
        </p:nvSpPr>
        <p:spPr>
          <a:xfrm>
            <a:off x="0" y="-200575"/>
            <a:ext cx="18288000" cy="10701600"/>
          </a:xfrm>
          <a:prstGeom prst="rect">
            <a:avLst/>
          </a:prstGeom>
          <a:solidFill>
            <a:srgbClr val="3652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g3e9c6161717_0_114"/>
          <p:cNvSpPr txBox="1"/>
          <p:nvPr/>
        </p:nvSpPr>
        <p:spPr>
          <a:xfrm>
            <a:off x="2703075" y="5153900"/>
            <a:ext cx="40977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24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</a:endParaRPr>
          </a:p>
        </p:txBody>
      </p:sp>
      <p:sp>
        <p:nvSpPr>
          <p:cNvPr id="258" name="Google Shape;258;g3e9c6161717_0_114"/>
          <p:cNvSpPr txBox="1"/>
          <p:nvPr/>
        </p:nvSpPr>
        <p:spPr>
          <a:xfrm>
            <a:off x="2703075" y="792775"/>
            <a:ext cx="11261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lang="en-US" sz="96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9600">
              <a:solidFill>
                <a:schemeClr val="lt1"/>
              </a:solidFill>
            </a:endParaRPr>
          </a:p>
        </p:txBody>
      </p:sp>
      <p:pic>
        <p:nvPicPr>
          <p:cNvPr id="259" name="Google Shape;259;g3e9c6161717_0_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6963" y="6116166"/>
            <a:ext cx="923400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e9c6161717_0_114"/>
          <p:cNvSpPr txBox="1">
            <a:spLocks noGrp="1"/>
          </p:cNvSpPr>
          <p:nvPr>
            <p:ph type="ctrTitle"/>
          </p:nvPr>
        </p:nvSpPr>
        <p:spPr>
          <a:xfrm>
            <a:off x="1022875" y="2362675"/>
            <a:ext cx="16319700" cy="245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Any Questions/feedback?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Check out </a:t>
            </a:r>
            <a:r>
              <a:rPr lang="en-US" sz="34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Working Model</a:t>
            </a:r>
            <a:r>
              <a:rPr lang="en-US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Here:</a:t>
            </a:r>
            <a:endParaRPr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198"/>
              <a:buFont typeface="Verdana"/>
              <a:buNone/>
            </a:pPr>
            <a:r>
              <a:rPr lang="en-US" sz="4478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Study 2 Boxify E-commerce Customer Churn Analysis</a:t>
            </a:r>
            <a:endParaRPr sz="7078">
              <a:solidFill>
                <a:schemeClr val="lt1"/>
              </a:solidFill>
            </a:endParaRPr>
          </a:p>
        </p:txBody>
      </p:sp>
      <p:sp>
        <p:nvSpPr>
          <p:cNvPr id="261" name="Google Shape;261;g3e9c6161717_0_114"/>
          <p:cNvSpPr txBox="1">
            <a:spLocks noGrp="1"/>
          </p:cNvSpPr>
          <p:nvPr>
            <p:ph type="subTitle" idx="1"/>
          </p:nvPr>
        </p:nvSpPr>
        <p:spPr>
          <a:xfrm>
            <a:off x="1022875" y="5993025"/>
            <a:ext cx="6067500" cy="116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Connect me at: </a:t>
            </a:r>
            <a:endParaRPr sz="3000" u="sng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40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Sai Jhansi Kongara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Custom</PresentationFormat>
  <Paragraphs>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Noto Sans Symbols</vt:lpstr>
      <vt:lpstr>Verdana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Questions/feedback?   Check out Working Model Here: Case Study 2 Boxify E-commerce Customer Churn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Jhansi Kongara</dc:creator>
  <cp:lastModifiedBy>Sai Jhansi Kongara</cp:lastModifiedBy>
  <cp:revision>1</cp:revision>
  <dcterms:created xsi:type="dcterms:W3CDTF">2006-08-16T00:00:00Z</dcterms:created>
  <dcterms:modified xsi:type="dcterms:W3CDTF">2026-07-13T06:43:49Z</dcterms:modified>
</cp:coreProperties>
</file>